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501" r:id="rId5"/>
    <p:sldId id="502" r:id="rId6"/>
    <p:sldId id="503" r:id="rId7"/>
    <p:sldId id="504" r:id="rId8"/>
    <p:sldId id="505" r:id="rId9"/>
    <p:sldId id="506" r:id="rId10"/>
    <p:sldId id="507" r:id="rId11"/>
    <p:sldId id="508" r:id="rId12"/>
    <p:sldId id="509" r:id="rId13"/>
    <p:sldId id="510" r:id="rId14"/>
    <p:sldId id="511" r:id="rId15"/>
    <p:sldId id="512" r:id="rId16"/>
    <p:sldId id="513" r:id="rId17"/>
    <p:sldId id="514" r:id="rId18"/>
    <p:sldId id="515" r:id="rId19"/>
    <p:sldId id="516" r:id="rId2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  <p15:guide id="17" pos="3341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D6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91"/>
    <p:restoredTop sz="94674"/>
  </p:normalViewPr>
  <p:slideViewPr>
    <p:cSldViewPr snapToGrid="0" snapToObjects="1">
      <p:cViewPr varScale="1">
        <p:scale>
          <a:sx n="87" d="100"/>
          <a:sy n="87" d="100"/>
        </p:scale>
        <p:origin x="315" y="45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pos="3341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06/10/2026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  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817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  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  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  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  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63" r:id="rId4"/>
    <p:sldLayoutId id="2147483661" r:id="rId5"/>
    <p:sldLayoutId id="2147483650" r:id="rId6"/>
    <p:sldLayoutId id="2147483666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8" r:id="rId13"/>
    <p:sldLayoutId id="2147483657" r:id="rId14"/>
    <p:sldLayoutId id="2147483664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000" dirty="0"/>
              <a:t>Автоматическое распознавание, перевод и анализ древнегерманских рунических текстов</a:t>
            </a:r>
          </a:p>
        </p:txBody>
      </p:sp>
      <p:sp>
        <p:nvSpPr>
          <p:cNvPr id="3" name="F1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гуманитарных наук</a:t>
            </a:r>
          </a:p>
        </p:txBody>
      </p:sp>
      <p:sp>
        <p:nvSpPr>
          <p:cNvPr id="4" name="F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Магистерская программа</a:t>
            </a:r>
          </a:p>
          <a:p>
            <a:r>
              <a:rPr lang="ru-RU" dirty="0"/>
              <a:t>«Компьютерная лингвистика»</a:t>
            </a:r>
          </a:p>
        </p:txBody>
      </p:sp>
      <p:sp>
        <p:nvSpPr>
          <p:cNvPr id="5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Выпускная квалификационная работа</a:t>
            </a:r>
          </a:p>
          <a:p>
            <a:r>
              <a:rPr lang="ru-RU" dirty="0"/>
              <a:t>Выполнил: Перфильев А. Ю.</a:t>
            </a:r>
          </a:p>
          <a:p>
            <a:r>
              <a:rPr lang="ru-RU" dirty="0"/>
              <a:t>Научный руководитель: ______________</a:t>
            </a:r>
          </a:p>
        </p:txBody>
      </p:sp>
      <p:sp>
        <p:nvSpPr>
          <p:cNvPr id="6" name="F1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распознавание рун при дефиците данных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Рунические надписи — предельный случай OCR в low-resource-сценарии.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Известно ≈ 5 000 скандинавских надписей, но размеченных изображений, пригодных для обучения нейросети, почти нет.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Носители — камень и металл: эрозия, лишайники, сколы, разные условия съёмки.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Знак на камне виден тенью и рельефом, а не контрастом «чернил».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Можно ли обучить распознаватель, не имея реального размеченного корпуса?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Цель, гипотеза и задачи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Цель — построить и оценить сквозную систему распознавания рунической транслитерации по фотографии.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Объект — памятники рунической эпиграфики; предмет — методы их автоматического распознавания в малоресурсном домене.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Задачи: сформировать данные, дообучить и сравнить модели, проанализировать ошибки, очертить границы применимости.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Рабочая гипотеза: качество CER &lt; 20 % достижимо за счёт мультимодальных моделей и синтетических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Метод: обучение на синтетике, проверка на реальном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pic>
        <p:nvPicPr>
          <p:cNvPr id="20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00" y="2950000"/>
            <a:ext cx="11200000" cy="2800000"/>
          </a:xfrm>
          <a:prstGeom prst="rect">
            <a:avLst/>
          </a:prstGeom>
        </p:spPr>
      </p:pic>
      <p:sp>
        <p:nvSpPr>
          <p:cNvPr id="41" name="Caption"/>
          <p:cNvSpPr/>
          <p:nvPr/>
        </p:nvSpPr>
        <p:spPr>
          <a:xfrm>
            <a:off x="600000" y="5900000"/>
            <a:ext cx="1100000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ru-RU" sz="1300" b="1" dirty="0">
                <a:solidFill>
                  <a:srgbClr val="102D69"/>
                </a:solidFill>
                <a:latin typeface="HSE Sans"/>
                <a:cs typeface="HSE Sans"/>
              </a:rPr>
              <a:t>Ключевой принцип — разделение сигналов: модель учится только на синтетике и проверяется только на реальных надписях.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Данные: синтетический корпус и реальный gold set</a:t>
            </a:r>
          </a:p>
        </p:txBody>
      </p:sp>
      <p:sp>
        <p:nvSpPr>
          <p:cNvPr id="3" name="F1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sz="5000" dirty="0"/>
              <a:t>≈ 4600</a:t>
            </a:r>
          </a:p>
        </p:txBody>
      </p:sp>
      <p:sp>
        <p:nvSpPr>
          <p:cNvPr id="4" name="F1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ru-RU" sz="5000" dirty="0"/>
              <a:t>113</a:t>
            </a:r>
          </a:p>
        </p:txBody>
      </p:sp>
      <p:sp>
        <p:nvSpPr>
          <p:cNvPr id="5" name="F2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ru-RU" sz="5000" dirty="0"/>
              <a:t>6</a:t>
            </a:r>
          </a:p>
        </p:txBody>
      </p:sp>
      <p:sp>
        <p:nvSpPr>
          <p:cNvPr id="6" name="F1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синтетических изображений (SD3 + ControlNet); пересечения с тестом исключены</a:t>
            </a:r>
          </a:p>
        </p:txBody>
      </p:sp>
      <p:sp>
        <p:nvSpPr>
          <p:cNvPr id="7" name="F1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реальных строк надписей с экспертной транслитерацией (gold set)</a:t>
            </a:r>
          </a:p>
        </p:txBody>
      </p:sp>
      <p:sp>
        <p:nvSpPr>
          <p:cNvPr id="8" name="F1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архитектур в сравнении: TrOCR и модели семейства Qwen-VL</a:t>
            </a:r>
          </a:p>
        </p:txBody>
      </p:sp>
      <p:sp>
        <p:nvSpPr>
          <p:cNvPr id="9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решение: транслитерация как цель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Модель предсказывает латинскую строку транслитерации (конвенция Rundata), а не символы рун Unicode.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Это позволяет переиспользовать готовые субсловные словари без изменения токенизатора.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Цель графемная: фонологическая многозначность рун выносится за рамки измеряемой ошибки.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Меньше «надстройки» под задачу — меньше данных нужно для дообучения.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Сравниваемые модели и протокол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ru-RU" b="1" dirty="0">
                <a:solidFill>
                  <a:srgbClr val="102D69"/>
                </a:solidFill>
              </a:rPr>
              <a:t>Специализированный OCR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TrOCR (BASE и LARGE), дообучение методом LoRA.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ru-RU" b="1" dirty="0">
                <a:solidFill>
                  <a:srgbClr val="102D69"/>
                </a:solidFill>
              </a:rPr>
              <a:t>Мультимодальные модели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Qwen-VL (2-VL, 2.5-VL, 3-VL), дообучение QLoRA в 4-битной квантизации.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ru-RU" dirty="0"/>
              <a:t>Единый протокол: один обучающий корпус, одна метрика CER, одна видеокарта T4.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Единый корпус и одна метрика — корректное сравнение двух классов моделей.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без адаптации (zero-shot)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Без дообучения задача недоступна полностью.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У всех моделей CER на реальных данных превышает 100 % (до 724 %).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TrOCR видит латиницу и выдаёт английские слова («SURGEON GENERAL’S»).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Мультимодальные модели описывают картинку словами («The runic inscription…»).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Ведущие проприетарные системы (проверены вручную) — тот же результат.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CER &gt; 100 % у всех → задача требует адаптации под домен.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дообучения: до и после на gold set</a:t>
            </a:r>
          </a:p>
        </p:txBody>
      </p:sp>
      <p:sp>
        <p:nvSpPr>
          <p:cNvPr id="30" name="Run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pic>
        <p:nvPicPr>
          <p:cNvPr id="20" name="Comp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00" y="2230000"/>
            <a:ext cx="9200000" cy="3516000"/>
          </a:xfrm>
          <a:prstGeom prst="rect">
            <a:avLst/>
          </a:prstGeom>
        </p:spPr>
      </p:pic>
      <p:sp>
        <p:nvSpPr>
          <p:cNvPr id="41" name="Caption"/>
          <p:cNvSpPr/>
          <p:nvPr/>
        </p:nvSpPr>
        <p:spPr>
          <a:xfrm>
            <a:off x="600000" y="5880000"/>
            <a:ext cx="11000000" cy="8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ru-RU" sz="1250" b="1" dirty="0">
                <a:solidFill>
                  <a:srgbClr val="102D69"/>
                </a:solidFill>
                <a:latin typeface="HSE Sans"/>
                <a:cs typeface="HSE Sans"/>
              </a:rPr>
              <a:t>Дообучение улучшает все модели; у лучшей (Qwen2.5-VL-7B) CER на реальных надписях падает со 102,7 % до 54,3 % (−48,5 п. п.). Отрицательная Δ — снижение ошибки.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после дообучения на синтетике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pic>
        <p:nvPicPr>
          <p:cNvPr id="20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00" y="2230000"/>
            <a:ext cx="9400000" cy="3681000"/>
          </a:xfrm>
          <a:prstGeom prst="rect">
            <a:avLst/>
          </a:prstGeom>
        </p:spPr>
      </p:pic>
      <p:sp>
        <p:nvSpPr>
          <p:cNvPr id="41" name="Caption"/>
          <p:cNvSpPr/>
          <p:nvPr/>
        </p:nvSpPr>
        <p:spPr>
          <a:xfrm>
            <a:off x="600000" y="6061000"/>
            <a:ext cx="1100000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ru-RU" sz="1300" b="1" dirty="0">
                <a:solidFill>
                  <a:srgbClr val="102D69"/>
                </a:solidFill>
                <a:latin typeface="HSE Sans"/>
                <a:cs typeface="HSE Sans"/>
              </a:rPr>
              <a:t>Лучший результат — Qwen2.5-VL-7B: CER 54 % на реальных надписях. Гипотеза CER &lt; 20 % не подтверждается.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Главный вывод: доминирует доменный разрыв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pic>
        <p:nvPicPr>
          <p:cNvPr id="20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2150000"/>
            <a:ext cx="9000000" cy="3693000"/>
          </a:xfrm>
          <a:prstGeom prst="rect">
            <a:avLst/>
          </a:prstGeom>
        </p:spPr>
      </p:pic>
      <p:sp>
        <p:nvSpPr>
          <p:cNvPr id="41" name="Caption"/>
          <p:cNvSpPr/>
          <p:nvPr/>
        </p:nvSpPr>
        <p:spPr>
          <a:xfrm>
            <a:off x="600000" y="5993000"/>
            <a:ext cx="1100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ru-RU" sz="1300" b="1" dirty="0">
                <a:solidFill>
                  <a:srgbClr val="102D69"/>
                </a:solidFill>
                <a:latin typeface="HSE Sans"/>
                <a:cs typeface="HSE Sans"/>
              </a:rPr>
              <a:t>Модели хорошо учат синтетику (CER 12–42 %), но проваливаются на реальных носителях (54–74 %): источник ошибок — сдвиг домена, а не размер модели.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TrOCR коллапсирует, а мультимодальные — нет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TrOCR-LARGE учит синтетику лучше многих (CER 14 %), но на камне выдаёт один токен «ek» — CER 95 %.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Узкий OCR-декодер, предобученный как языковая модель латиницы, переобучается на синтетику.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Дело в видимости текста: синтетика — «чернила на фоне», реальный камень — тень и рельеф.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Широкий зрительно-языковой прайор мультимодальной модели перекрывает эту разницу.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ru-RU" sz="1100" i="1" dirty="0">
                <a:solidFill>
                  <a:srgbClr val="6B7280"/>
                </a:solidFill>
              </a:rPr>
              <a:t>Оговорка к сравнению: TrOCR ужимает вход в фиксированный квадрат (~384×384) и на обучении, и на тесте, тогда как Qwen-VL работает в нативном разрешении — это может усиливать разрыв TrOCR ↔ Qwen на длинных строках, а не только прайор.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Перенос на реальные носители даёт широкий прайор, а не специализация под OCR.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и предобучение важнее размера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ru-RU" b="1" dirty="0"/>
              <a:t>Лучшей оказалась не самая большая и не самая новая модель.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Qwen2.5-VL-7B (CER 54 %) превосходит более крупную Qwen3-VL-8B (CER 68 %).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В узком домене качество предобучения решает больше, чем число параметров или поколение модели.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54 %  —  Qwen2.5-VL-7B
68 %  —  Qwen3-VL-8B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Сквозной пайплайн и командная работа</a:t>
            </a:r>
          </a:p>
        </p:txBody>
      </p:sp>
      <p:sp>
        <p:nvSpPr>
          <p:cNvPr id="30" name="Run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pic>
        <p:nvPicPr>
          <p:cNvPr id="20" name="E2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00" y="2350000"/>
            <a:ext cx="9750000" cy="2250000"/>
          </a:xfrm>
          <a:prstGeom prst="rect">
            <a:avLst/>
          </a:prstGeom>
        </p:spPr>
      </p:pic>
      <p:sp>
        <p:nvSpPr>
          <p:cNvPr id="40" name="Points"/>
          <p:cNvSpPr/>
          <p:nvPr/>
        </p:nvSpPr>
        <p:spPr>
          <a:xfrm>
            <a:off x="585898" y="4700000"/>
            <a:ext cx="7750000" cy="1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Bef>
                <a:spcPts val="700"/>
              </a:spcBef>
              <a:buClr>
                <a:srgbClr val="C49A3A"/>
              </a:buClr>
              <a:buFont typeface="Arial"/>
              <a:buChar char="–"/>
            </a:pPr>
            <a:r>
              <a:rPr lang="ru-RU" sz="1150" dirty="0">
                <a:solidFill>
                  <a:srgbClr val="102D69"/>
                </a:solidFill>
                <a:latin typeface="HSE Sans"/>
                <a:cs typeface="HSE Sans"/>
              </a:rPr>
              <a:t>Выход распознавания — латинская транслитерация — служит входом модуля перевода (детерминированный адаптер нотации).</a:t>
            </a:r>
          </a:p>
          <a:p>
            <a:pPr marL="228600" indent="-228600">
              <a:spcBef>
                <a:spcPts val="700"/>
              </a:spcBef>
              <a:buClr>
                <a:srgbClr val="C49A3A"/>
              </a:buClr>
              <a:buFont typeface="Arial"/>
              <a:buChar char="–"/>
            </a:pPr>
            <a:r>
              <a:rPr lang="ru-RU" sz="1150" dirty="0">
                <a:solidFill>
                  <a:srgbClr val="102D69"/>
                </a:solidFill>
                <a:latin typeface="HSE Sans"/>
                <a:cs typeface="HSE Sans"/>
              </a:rPr>
              <a:t>Перевод на английский, немецкий, шведский и датировка — большие языковые модели с LoRA; по смежной работе лучший перевод BLEU ≈ 56 (англ.).</a:t>
            </a:r>
          </a:p>
          <a:p>
            <a:pPr marL="228600" indent="-228600">
              <a:spcBef>
                <a:spcPts val="700"/>
              </a:spcBef>
              <a:buClr>
                <a:srgbClr val="C49A3A"/>
              </a:buClr>
              <a:buFont typeface="Arial"/>
              <a:buChar char="–"/>
            </a:pPr>
            <a:r>
              <a:rPr lang="ru-RU" sz="1150" dirty="0">
                <a:solidFill>
                  <a:srgbClr val="102D69"/>
                </a:solidFill>
                <a:latin typeface="HSE Sans"/>
                <a:cs typeface="HSE Sans"/>
              </a:rPr>
              <a:t>На защите — живое демо: фото → транслитерация → перевод; ошибки распознавания переходят в перевод, поэтому связка демонстрационная.</a:t>
            </a:r>
          </a:p>
        </p:txBody>
      </p:sp>
      <p:sp>
        <p:nvSpPr>
          <p:cNvPr id="41" name="Attr"/>
          <p:cNvSpPr/>
          <p:nvPr/>
        </p:nvSpPr>
        <p:spPr>
          <a:xfrm>
            <a:off x="8520000" y="4700000"/>
            <a:ext cx="3120000" cy="1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37160" tIns="91440" rIns="137160" bIns="91440" anchor="ctr"/>
          <a:lstStyle/>
          <a:p>
            <a:pPr algn="l"/>
            <a:r>
              <a:rPr lang="ru-RU" sz="1200" b="1" dirty="0">
                <a:solidFill>
                  <a:srgbClr val="FFFFFF"/>
                </a:solidFill>
                <a:latin typeface="HSE Sans"/>
                <a:cs typeface="HSE Sans"/>
              </a:rPr>
              <a:t>Перевод и датировка — смежная работа коллеги (репозиторий runic_ai). Не входит в мой вклад; интегрировано для демонстрации, с указанием авторства.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Выводы, ограничения и перспективы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ru-RU" b="1" dirty="0">
                <a:solidFill>
                  <a:srgbClr val="102D69"/>
                </a:solidFill>
              </a:rPr>
              <a:t>Вклад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Первая воспроизводимая базовая линия распознавания для скандинавских рун — без единого реального изображения при обучении.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Количественная характеризация доменного разрыва и контраст «мультимодальные модели vs специализированный OCR».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ru-RU" b="1" dirty="0">
                <a:solidFill>
                  <a:srgbClr val="102D69"/>
                </a:solidFill>
              </a:rPr>
              <a:t>Ограничения и перспективы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Точность пока требует обязательной экспертной проверки; gold set невелик.</a:t>
            </a:r>
          </a:p>
          <a:p>
            <a:pPr marL="285750" indent="-285750">
              <a:spcBef>
                <a:spcPts val="500"/>
              </a:spcBef>
              <a:buClr>
                <a:srgbClr val="C49A3A"/>
              </a:buClr>
              <a:buFont typeface="Arial"/>
              <a:buChar char="–"/>
            </a:pPr>
            <a:r>
              <a:rPr lang="ru-RU" dirty="0"/>
              <a:t>Дальше — фотореалистичный синтез (тень и рельеф), доменная адаптация, 3D/RTI-данные, метрики неоднозначности.</a:t>
            </a:r>
          </a:p>
        </p:txBody>
      </p:sp>
      <p:sp>
        <p:nvSpPr>
          <p:cNvPr id="30" name="F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Распознавание рунических надписей</a:t>
            </a:r>
          </a:p>
        </p:txBody>
      </p:sp>
      <p:sp>
        <p:nvSpPr>
          <p:cNvPr id="40" name="Callout"/>
          <p:cNvSpPr/>
          <p:nvPr/>
        </p:nvSpPr>
        <p:spPr>
          <a:xfrm>
            <a:off x="7050000" y="2500000"/>
            <a:ext cx="4600000" cy="2900000"/>
          </a:xfrm>
          <a:prstGeom prst="roundRect">
            <a:avLst>
              <a:gd name="adj" fmla="val 5500"/>
            </a:avLst>
          </a:prstGeom>
          <a:solidFill>
            <a:srgbClr val="102D69"/>
          </a:solidFill>
        </p:spPr>
        <p:txBody>
          <a:bodyPr lIns="160020" tIns="100584" rIns="160020" bIns="100584" anchor="ctr"/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HSE Sans"/>
                <a:cs typeface="HSE Sans"/>
              </a:rPr>
              <a:t>Гипотеза не подтвердилась, но работа локализовала трудность — перенос с синтетики на реальный носитель.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aption"/>
          <p:cNvSpPr/>
          <p:nvPr/>
        </p:nvSpPr>
        <p:spPr>
          <a:xfrm>
            <a:off x="0" y="5380000"/>
            <a:ext cx="12192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ru-RU" sz="2800" b="1" dirty="0">
                <a:solidFill>
                  <a:srgbClr val="FFFFFF"/>
                </a:solidFill>
                <a:latin typeface="HSE Sans"/>
                <a:cs typeface="HSE Sans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8" ma:contentTypeDescription="Создание документа." ma:contentTypeScope="" ma:versionID="1a5cfb238914476ded5970f92b127504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0adbc20d4fbdbe3247a279c1a10fa71b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a06070-6ad6-44db-a3bf-0d2f4389ef2b}" ma:internalName="TaxCatchAll" ma:showField="CatchAllData" ma:web="e96afe77-3acb-4328-97fc-408e1bde3e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6afe77-3acb-4328-97fc-408e1bde3ecd" xsi:nil="true"/>
    <lcf76f155ced4ddcb4097134ff3c332f xmlns="9875bd71-cde8-496c-a136-433f55d5e6d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28536A-18C6-49CF-8D1D-F6AA6C1DA5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e96afe77-3acb-4328-97fc-408e1bde3ecd"/>
    <ds:schemaRef ds:uri="http://schemas.openxmlformats.org/package/2006/metadata/core-properties"/>
    <ds:schemaRef ds:uri="9875bd71-cde8-496c-a136-433f55d5e6d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945</Words>
  <Application>Microsoft Office PowerPoint</Application>
  <PresentationFormat>Широкоэкранный</PresentationFormat>
  <Paragraphs>93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HSE Sans</vt:lpstr>
      <vt:lpstr>Office Theme</vt:lpstr>
      <vt:lpstr>Автоматическое распознавание, перевод и анализ древнегерманских рунических текстов</vt:lpstr>
      <vt:lpstr>Проблема: распознавание рун при дефиците данных</vt:lpstr>
      <vt:lpstr>Цель, гипотеза и задачи</vt:lpstr>
      <vt:lpstr>Метод: обучение на синтетике, проверка на реальном</vt:lpstr>
      <vt:lpstr>Данные: синтетический корпус и реальный gold set</vt:lpstr>
      <vt:lpstr>Ключевое решение: транслитерация как цель</vt:lpstr>
      <vt:lpstr>Сравниваемые модели и протокол</vt:lpstr>
      <vt:lpstr>Результаты без адаптации (zero-shot)</vt:lpstr>
      <vt:lpstr>Эффект дообучения: до и после на gold set</vt:lpstr>
      <vt:lpstr>Результаты после дообучения на синтетике</vt:lpstr>
      <vt:lpstr>Главный вывод: доминирует доменный разрыв</vt:lpstr>
      <vt:lpstr>Почему TrOCR коллапсирует, а мультимодальные — нет</vt:lpstr>
      <vt:lpstr>Версия и предобучение важнее размера</vt:lpstr>
      <vt:lpstr>Сквозной пайплайн и командная работа</vt:lpstr>
      <vt:lpstr>Выводы, ограничения и перспективы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Anton Perfilev</cp:lastModifiedBy>
  <cp:revision>19</cp:revision>
  <cp:lastPrinted>2021-11-11T13:08:42Z</cp:lastPrinted>
  <dcterms:created xsi:type="dcterms:W3CDTF">2021-11-11T08:52:47Z</dcterms:created>
  <dcterms:modified xsi:type="dcterms:W3CDTF">2026-06-10T09:31:41Z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MediaServiceImageTags">
    <vt:lpwstr/>
  </property>
</Properties>
</file>